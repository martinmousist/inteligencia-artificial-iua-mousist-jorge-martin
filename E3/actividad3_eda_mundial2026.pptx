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51436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 presento y digo qué datos usé: los planteles del Mundial 2026, los mismos de la actividad anterior. Son 48 selecciones con 26 jugadores cada una, o sea 1.248 filas. Aclarar que el archivo original trae 14 tablas y que yo trabajé con 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Voy bloque por bloque. Tamaño: de las 14 tablas usé la de jugadores y la de equipos, y las uní. Información: 4 columnas de texto y 6 de números. Calidad es el punto más importante: no hay datos vacíos ni filas repetidas, pero cuando conté los nombres me di cuenta de que hay 1.241 distintos para 1.248 filas. Son 7 jugadores que tienen el apellido cortado en Mc. O sea que revisar los datos vacíos no alcanza. Después las curiosidades. El gráfico muestra que casi todos valen poco y unos pocos valen muchísimo. Cierro con las cosas a tener en cuenta, sobre todo la del 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Primero la regla: es extremo todo lo que queda muy lejos del medio, más de 1,5 veces la distancia entre el primer y el tercer cuarto de los datos. Donde más aparecen es en goles y en valor de mercado. Después muestro quiénes son, que es lo que prueba que no son errores: Yamal, Haaland, Cristiano Ronaldo, y los arqueros más veterano y más alto. Por eso los dejo. Y cierro con la consecuencia: si los conservo, no puedo describir el valor con el promedio, porque queda por encima del 71% de los jugadores. Va la mediana, y escala logarítmica si después se arma un modelo. El gráfico de arriba muestra justamente eso. El boxplot del final: la altura no se relaciona con ningún número, pero el puesto sí la explica.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8689" y="1063016"/>
            <a:ext cx="7543988" cy="342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5" b="1" i="0">
                <a:solidFill>
                  <a:srgbClr val="8FA8C4"/>
                </a:solidFill>
                <a:latin typeface="Arial"/>
              </a:rPr>
              <a:t>ANÁLISIS EXPLORATORIO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8689" y="1474506"/>
            <a:ext cx="7406825" cy="13030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 i="0">
                <a:solidFill>
                  <a:srgbClr val="FFFFFF"/>
                </a:solidFill>
                <a:latin typeface="Arial"/>
              </a:rPr>
              <a:t>El plantel del Mundial 2026</a:t>
            </a:r>
          </a:p>
          <a:p>
            <a:pPr>
              <a:spcBef>
                <a:spcPts val="750"/>
              </a:spcBef>
            </a:pPr>
            <a:r>
              <a:rPr sz="1575" b="0" i="0">
                <a:solidFill>
                  <a:srgbClr val="B9C6D4"/>
                </a:solidFill>
                <a:latin typeface="Arial"/>
              </a:rPr>
              <a:t>1.248 jugadores convocados por 48 selecciones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689" y="3086177"/>
            <a:ext cx="1714542" cy="7201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50" b="1" i="0">
                <a:solidFill>
                  <a:srgbClr val="FFFFFF"/>
                </a:solidFill>
                <a:latin typeface="Arial"/>
              </a:rPr>
              <a:t>1.248</a:t>
            </a:r>
          </a:p>
          <a:p>
            <a:r>
              <a:rPr sz="975" b="0" i="0">
                <a:solidFill>
                  <a:srgbClr val="9AABBC"/>
                </a:solidFill>
                <a:latin typeface="Arial"/>
              </a:rPr>
              <a:t>jugadores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4686" y="3086177"/>
            <a:ext cx="1714542" cy="7201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50" b="1" i="0">
                <a:solidFill>
                  <a:srgbClr val="FFFFFF"/>
                </a:solidFill>
                <a:latin typeface="Arial"/>
              </a:rPr>
              <a:t>48</a:t>
            </a:r>
          </a:p>
          <a:p>
            <a:r>
              <a:rPr sz="975" b="0" i="0">
                <a:solidFill>
                  <a:srgbClr val="9AABBC"/>
                </a:solidFill>
                <a:latin typeface="Arial"/>
              </a:rPr>
              <a:t>selecciones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60684" y="3086177"/>
            <a:ext cx="1714542" cy="7201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50" b="1" i="0">
                <a:solidFill>
                  <a:srgbClr val="FFFFFF"/>
                </a:solidFill>
                <a:latin typeface="Arial"/>
              </a:rPr>
              <a:t>10</a:t>
            </a:r>
          </a:p>
          <a:p>
            <a:r>
              <a:rPr sz="975" b="0" i="0">
                <a:solidFill>
                  <a:srgbClr val="9AABBC"/>
                </a:solidFill>
                <a:latin typeface="Arial"/>
              </a:rPr>
              <a:t>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689" y="4286357"/>
            <a:ext cx="7543988" cy="582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9AABBC"/>
                </a:solidFill>
                <a:latin typeface="Arial"/>
              </a:rPr>
              <a:t>Actividad individual opcional Nº 3   -   Inteligencia Artificial   -   IUA</a:t>
            </a:r>
          </a:p>
          <a:p>
            <a:pPr>
              <a:spcBef>
                <a:spcPts val="300"/>
              </a:spcBef>
            </a:pPr>
            <a:r>
              <a:rPr sz="1200" b="1" i="0">
                <a:solidFill>
                  <a:srgbClr val="FFFFFF"/>
                </a:solidFill>
                <a:latin typeface="Arial"/>
              </a:rPr>
              <a:t>Mousist, Jorge Martín</a:t>
            </a:r>
          </a:p>
          <a:p>
            <a:pPr>
              <a:spcBef>
                <a:spcPts val="450"/>
              </a:spcBef>
            </a:pPr>
            <a:r>
              <a:rPr sz="825" b="0" i="0">
                <a:solidFill>
                  <a:srgbClr val="7F91A4"/>
                </a:solidFill>
                <a:latin typeface="Arial"/>
              </a:rPr>
              <a:t>Notebook y datos: github.com/MartinMousist/Inteligencia-Artificial-IUA-Mousist-Jorge-Martin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0072" y="308617"/>
            <a:ext cx="8229805" cy="4457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F2D3D"/>
                </a:solidFill>
                <a:latin typeface="Arial"/>
              </a:rPr>
              <a:t>El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072" y="925853"/>
            <a:ext cx="4320648" cy="6210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4C72B0"/>
                </a:solidFill>
                <a:latin typeface="Arial"/>
              </a:rPr>
              <a:t>Tamaño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050" b="0" i="0">
                <a:solidFill>
                  <a:srgbClr val="333B44"/>
                </a:solidFill>
                <a:latin typeface="Arial"/>
              </a:rPr>
              <a:t>Son 14 tablas. Usé dos: la de jugadores y la de equipos. El análisis queda en 1.248 filas y 10 columnas.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72" y="1855516"/>
            <a:ext cx="4320648" cy="6210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4C72B0"/>
                </a:solidFill>
                <a:latin typeface="Arial"/>
              </a:rPr>
              <a:t>Qué información tiene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050" b="0" i="0">
                <a:solidFill>
                  <a:srgbClr val="333B44"/>
                </a:solidFill>
                <a:latin typeface="Arial"/>
              </a:rPr>
              <a:t>4 columnas de texto: selección, confederación, puesto y club. 6 de números: edad, altura, valor, partidos, goles y el rating del equipo.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72" y="2785179"/>
            <a:ext cx="4320648" cy="6210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4C72B0"/>
                </a:solidFill>
                <a:latin typeface="Arial"/>
              </a:rPr>
              <a:t>Calidad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050" b="0" i="0">
                <a:solidFill>
                  <a:srgbClr val="333B44"/>
                </a:solidFill>
                <a:latin typeface="Arial"/>
              </a:rPr>
              <a:t>No hay datos vacíos ni filas repetidas. Pero hay 1.241 nombres distintos para 1.248 filas: 7 jugadores tienen el apellido cortado en Mc.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72" y="3714842"/>
            <a:ext cx="4320648" cy="821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4C72B0"/>
                </a:solidFill>
                <a:latin typeface="Arial"/>
              </a:rPr>
              <a:t>Curiosidades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050" b="0" i="0">
                <a:solidFill>
                  <a:srgbClr val="333B44"/>
                </a:solidFill>
                <a:latin typeface="Arial"/>
              </a:rPr>
              <a:t>Los jugadores salen de 450 clubes. Las edades van de 17 a 43 años. Cristiano Ronaldo tiene 229 partidos y 143 goles, y el 36% no hizo ninguno.</a:t>
            </a:r>
          </a:p>
        </p:txBody>
      </p:sp>
      <p:pic>
        <p:nvPicPr>
          <p:cNvPr id="7" name="Picture 6" descr="va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046" y="891562"/>
            <a:ext cx="3600540" cy="19502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5046" y="2894148"/>
            <a:ext cx="3600540" cy="37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6B7580"/>
                </a:solidFill>
                <a:latin typeface="Arial"/>
              </a:rPr>
              <a:t>El 10% más caro se lleva casi la mitad del valor de todos los planteles.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5046" y="3346787"/>
            <a:ext cx="3600540" cy="1219611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9642" y="3511383"/>
            <a:ext cx="3271347" cy="8904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5" b="1" i="0">
                <a:solidFill>
                  <a:srgbClr val="C44E52"/>
                </a:solidFill>
                <a:latin typeface="Arial"/>
              </a:rPr>
              <a:t>Desafíos a priori</a:t>
            </a:r>
          </a:p>
          <a:p>
            <a:pPr>
              <a:lnSpc>
                <a:spcPct val="105000"/>
              </a:lnSpc>
              <a:spcBef>
                <a:spcPts val="375"/>
              </a:spcBef>
            </a:pPr>
            <a:r>
              <a:rPr sz="900" b="0" i="0">
                <a:solidFill>
                  <a:srgbClr val="333B44"/>
                </a:solidFill>
                <a:latin typeface="Arial"/>
              </a:rPr>
              <a:t>· El rating es del equipo, no del jugador: se repite en sus 26 jugadores.</a:t>
            </a:r>
          </a:p>
          <a:p>
            <a:pPr>
              <a:lnSpc>
                <a:spcPct val="105000"/>
              </a:lnSpc>
              <a:spcBef>
                <a:spcPts val="375"/>
              </a:spcBef>
            </a:pPr>
            <a:r>
              <a:rPr sz="900" b="0" i="0">
                <a:solidFill>
                  <a:srgbClr val="333B44"/>
                </a:solidFill>
                <a:latin typeface="Arial"/>
              </a:rPr>
              <a:t>· La columna de goles suma toda la carrera, no solo el Mundial.</a:t>
            </a:r>
          </a:p>
          <a:p>
            <a:pPr>
              <a:lnSpc>
                <a:spcPct val="105000"/>
              </a:lnSpc>
              <a:spcBef>
                <a:spcPts val="375"/>
              </a:spcBef>
            </a:pPr>
            <a:r>
              <a:rPr sz="900" b="0" i="0">
                <a:solidFill>
                  <a:srgbClr val="333B44"/>
                </a:solidFill>
                <a:latin typeface="Arial"/>
              </a:rPr>
              <a:t>· OFC trae una sola selección y UEFA trae 16.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0072" y="308617"/>
            <a:ext cx="8229805" cy="4457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F2D3D"/>
                </a:solidFill>
                <a:latin typeface="Arial"/>
              </a:rPr>
              <a:t>Los valores extremos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072" y="891562"/>
            <a:ext cx="4046321" cy="2057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5" b="1" i="0">
                <a:solidFill>
                  <a:srgbClr val="4C72B0"/>
                </a:solidFill>
                <a:latin typeface="Arial"/>
              </a:rPr>
              <a:t>Cuántos hay (regla del 1,5 IQR)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72" y="1179605"/>
            <a:ext cx="1988869" cy="19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 i="0">
                <a:solidFill>
                  <a:srgbClr val="333B44"/>
                </a:solidFill>
                <a:latin typeface="Arial"/>
              </a:rPr>
              <a:t>Goles con la selección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7523" y="1179605"/>
            <a:ext cx="548653" cy="19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1F2D3D"/>
                </a:solidFill>
                <a:latin typeface="Arial"/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23340" y="1179605"/>
            <a:ext cx="685817" cy="19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0" i="0">
                <a:solidFill>
                  <a:srgbClr val="6B7580"/>
                </a:solidFill>
                <a:latin typeface="Arial"/>
              </a:rPr>
              <a:t>10,7 %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72" y="1412783"/>
            <a:ext cx="1988869" cy="19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 i="0">
                <a:solidFill>
                  <a:srgbClr val="333B44"/>
                </a:solidFill>
                <a:latin typeface="Arial"/>
              </a:rPr>
              <a:t>Valor de mercado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7523" y="1412783"/>
            <a:ext cx="548653" cy="19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1F2D3D"/>
                </a:solidFill>
                <a:latin typeface="Arial"/>
              </a:rPr>
              <a:t>113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3340" y="1412783"/>
            <a:ext cx="685817" cy="19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0" i="0">
                <a:solidFill>
                  <a:srgbClr val="6B7580"/>
                </a:solidFill>
                <a:latin typeface="Arial"/>
              </a:rPr>
              <a:t>9,1 %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72" y="1645961"/>
            <a:ext cx="1988869" cy="19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 i="0">
                <a:solidFill>
                  <a:srgbClr val="333B44"/>
                </a:solidFill>
                <a:latin typeface="Arial"/>
              </a:rPr>
              <a:t>Partidos (caps)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7523" y="1645961"/>
            <a:ext cx="548653" cy="19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1F2D3D"/>
                </a:solidFill>
                <a:latin typeface="Arial"/>
              </a:rP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3340" y="1645961"/>
            <a:ext cx="685817" cy="19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0" i="0">
                <a:solidFill>
                  <a:srgbClr val="6B7580"/>
                </a:solidFill>
                <a:latin typeface="Arial"/>
              </a:rPr>
              <a:t>3,8 %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72" y="1879138"/>
            <a:ext cx="1988869" cy="19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 i="0">
                <a:solidFill>
                  <a:srgbClr val="333B44"/>
                </a:solidFill>
                <a:latin typeface="Arial"/>
              </a:rPr>
              <a:t>Edad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7523" y="1879138"/>
            <a:ext cx="548653" cy="19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1F2D3D"/>
                </a:solidFill>
                <a:latin typeface="Arial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3340" y="1879138"/>
            <a:ext cx="685817" cy="19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0" i="0">
                <a:solidFill>
                  <a:srgbClr val="6B7580"/>
                </a:solidFill>
                <a:latin typeface="Arial"/>
              </a:rPr>
              <a:t>0,6 %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72" y="2112316"/>
            <a:ext cx="1988869" cy="19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 i="0">
                <a:solidFill>
                  <a:srgbClr val="333B44"/>
                </a:solidFill>
                <a:latin typeface="Arial"/>
              </a:rPr>
              <a:t>Altura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7523" y="2112316"/>
            <a:ext cx="548653" cy="19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1F2D3D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3340" y="2112316"/>
            <a:ext cx="685817" cy="19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75" b="0" i="0">
                <a:solidFill>
                  <a:srgbClr val="6B7580"/>
                </a:solidFill>
                <a:latin typeface="Arial"/>
              </a:rPr>
              <a:t>0,2 %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72" y="2414076"/>
            <a:ext cx="4046321" cy="514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75" b="0" i="0">
                <a:solidFill>
                  <a:srgbClr val="333B44"/>
                </a:solidFill>
                <a:latin typeface="Arial"/>
              </a:rPr>
              <a:t>No son errores. Son las estrellas del mercado y los goleadores históricos. Los dejo como están.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72" y="2914722"/>
            <a:ext cx="4046321" cy="2057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5" b="1" i="0">
                <a:solidFill>
                  <a:srgbClr val="4C72B0"/>
                </a:solidFill>
                <a:latin typeface="Arial"/>
              </a:rPr>
              <a:t>Quiénes 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72" y="3168475"/>
            <a:ext cx="4046321" cy="3269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75" b="1" i="0">
                <a:solidFill>
                  <a:srgbClr val="55A868"/>
                </a:solidFill>
                <a:latin typeface="Arial"/>
              </a:rPr>
              <a:t>· </a:t>
            </a:r>
            <a:r>
              <a:rPr sz="975" b="1" i="0">
                <a:solidFill>
                  <a:srgbClr val="333B44"/>
                </a:solidFill>
                <a:latin typeface="Arial"/>
              </a:rPr>
              <a:t>Valor de mercado:</a:t>
            </a:r>
            <a:r>
              <a:rPr sz="975" b="0" i="0">
                <a:solidFill>
                  <a:srgbClr val="333B44"/>
                </a:solidFill>
                <a:latin typeface="Arial"/>
              </a:rPr>
              <a:t> Lamine Yamal y Erling Haaland, 200 millones cada uno.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72" y="3618828"/>
            <a:ext cx="4046321" cy="1634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75" b="1" i="0">
                <a:solidFill>
                  <a:srgbClr val="55A868"/>
                </a:solidFill>
                <a:latin typeface="Arial"/>
              </a:rPr>
              <a:t>· </a:t>
            </a:r>
            <a:r>
              <a:rPr sz="975" b="1" i="0">
                <a:solidFill>
                  <a:srgbClr val="333B44"/>
                </a:solidFill>
                <a:latin typeface="Arial"/>
              </a:rPr>
              <a:t>Goles y partidos:</a:t>
            </a:r>
            <a:r>
              <a:rPr sz="975" b="0" i="0">
                <a:solidFill>
                  <a:srgbClr val="333B44"/>
                </a:solidFill>
                <a:latin typeface="Arial"/>
              </a:rPr>
              <a:t> Cristiano Ronaldo, 143 goles en 229 partidos.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72" y="3905728"/>
            <a:ext cx="4046321" cy="1634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75" b="1" i="0">
                <a:solidFill>
                  <a:srgbClr val="55A868"/>
                </a:solidFill>
                <a:latin typeface="Arial"/>
              </a:rPr>
              <a:t>· </a:t>
            </a:r>
            <a:r>
              <a:rPr sz="975" b="1" i="0">
                <a:solidFill>
                  <a:srgbClr val="333B44"/>
                </a:solidFill>
                <a:latin typeface="Arial"/>
              </a:rPr>
              <a:t>Edad y altura:</a:t>
            </a:r>
            <a:r>
              <a:rPr sz="975" b="0" i="0">
                <a:solidFill>
                  <a:srgbClr val="333B44"/>
                </a:solidFill>
                <a:latin typeface="Arial"/>
              </a:rPr>
              <a:t> dos arqueros, uno de 43 años y otro de 205 cm.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72" y="4206345"/>
            <a:ext cx="4046321" cy="617235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51" y="4357224"/>
            <a:ext cx="3744561" cy="315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0">
                <a:solidFill>
                  <a:srgbClr val="333B44"/>
                </a:solidFill>
                <a:latin typeface="Arial"/>
              </a:rPr>
              <a:t>Al conservarlos, el valor de mercado conviene describirlo con la mediana, no con el promedio, y en escala logarítmica.</a:t>
            </a:r>
          </a:p>
        </p:txBody>
      </p:sp>
      <p:pic>
        <p:nvPicPr>
          <p:cNvPr id="26" name="Picture 25" descr="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010" y="891562"/>
            <a:ext cx="3806285" cy="17974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35010" y="2729552"/>
            <a:ext cx="3806285" cy="2057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580"/>
                </a:solidFill>
                <a:latin typeface="Arial"/>
              </a:rPr>
              <a:t>El valor de mercado, en millones y en escala logarítmica.</a:t>
            </a:r>
          </a:p>
        </p:txBody>
      </p:sp>
      <p:pic>
        <p:nvPicPr>
          <p:cNvPr id="28" name="Picture 27" descr="al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010" y="3051886"/>
            <a:ext cx="2263196" cy="167279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35370" y="3168475"/>
            <a:ext cx="1440216" cy="15773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 i="0">
                <a:solidFill>
                  <a:srgbClr val="C44E52"/>
                </a:solidFill>
                <a:latin typeface="Arial"/>
              </a:rPr>
              <a:t>Relaciones más fuertes</a:t>
            </a:r>
          </a:p>
          <a:p>
            <a:pPr>
              <a:spcBef>
                <a:spcPts val="450"/>
              </a:spcBef>
            </a:pPr>
            <a:r>
              <a:rPr sz="900" b="0" i="0">
                <a:solidFill>
                  <a:srgbClr val="333B44"/>
                </a:solidFill>
                <a:latin typeface="Arial"/>
              </a:rPr>
              <a:t>rating y valor:  +0,57</a:t>
            </a:r>
          </a:p>
          <a:p>
            <a:pPr>
              <a:spcBef>
                <a:spcPts val="450"/>
              </a:spcBef>
            </a:pPr>
            <a:r>
              <a:rPr sz="900" b="0" i="0">
                <a:solidFill>
                  <a:srgbClr val="333B44"/>
                </a:solidFill>
                <a:latin typeface="Arial"/>
              </a:rPr>
              <a:t>edad y partidos:  +0,61</a:t>
            </a:r>
          </a:p>
          <a:p>
            <a:pPr>
              <a:spcBef>
                <a:spcPts val="450"/>
              </a:spcBef>
            </a:pPr>
            <a:r>
              <a:rPr sz="900" b="0" i="0">
                <a:solidFill>
                  <a:srgbClr val="333B44"/>
                </a:solidFill>
                <a:latin typeface="Arial"/>
              </a:rPr>
              <a:t>partidos y goles:  +0,61</a:t>
            </a:r>
          </a:p>
          <a:p>
            <a:pPr>
              <a:spcBef>
                <a:spcPts val="450"/>
              </a:spcBef>
            </a:pPr>
            <a:r>
              <a:rPr sz="900" b="0" i="0">
                <a:solidFill>
                  <a:srgbClr val="333B44"/>
                </a:solidFill>
                <a:latin typeface="Arial"/>
              </a:rPr>
              <a:t>edad y valor:  -0,22</a:t>
            </a:r>
          </a:p>
          <a:p>
            <a:pPr>
              <a:lnSpc>
                <a:spcPct val="110000"/>
              </a:lnSpc>
              <a:spcBef>
                <a:spcPts val="675"/>
              </a:spcBef>
            </a:pPr>
            <a:r>
              <a:rPr sz="825" b="0" i="0">
                <a:solidFill>
                  <a:srgbClr val="6B7580"/>
                </a:solidFill>
                <a:latin typeface="Arial"/>
              </a:rPr>
              <a:t>La altura no se relaciona con ningún número, pero el puesto sí la explica.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